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73" r:id="rId2"/>
    <p:sldId id="262" r:id="rId3"/>
    <p:sldId id="258" r:id="rId4"/>
    <p:sldId id="267" r:id="rId5"/>
    <p:sldId id="261" r:id="rId6"/>
    <p:sldId id="279" r:id="rId7"/>
    <p:sldId id="280" r:id="rId8"/>
    <p:sldId id="264" r:id="rId9"/>
    <p:sldId id="293" r:id="rId10"/>
    <p:sldId id="282" r:id="rId11"/>
    <p:sldId id="281" r:id="rId12"/>
    <p:sldId id="283" r:id="rId13"/>
    <p:sldId id="284" r:id="rId14"/>
    <p:sldId id="285" r:id="rId15"/>
    <p:sldId id="286" r:id="rId16"/>
    <p:sldId id="287" r:id="rId17"/>
    <p:sldId id="288" r:id="rId18"/>
    <p:sldId id="290" r:id="rId19"/>
    <p:sldId id="311" r:id="rId20"/>
    <p:sldId id="310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3/30/2026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3/30/2026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3/30/2026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3/30/2026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3/30/2026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3/30/2026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3/30/2026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3/30/2026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electronics14153104" TargetMode="External"/><Relationship Id="rId2" Type="http://schemas.openxmlformats.org/officeDocument/2006/relationships/hyperlink" Target="https://doi.org/10.3390/app131910871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avallikapalvai/privacy-enhanced-anonymous-cloud-authentication-framework-with-multi-factor-protection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a flower&#10;&#10;AI-generated content may be incorrect.">
            <a:extLst>
              <a:ext uri="{FF2B5EF4-FFF2-40B4-BE49-F238E27FC236}">
                <a16:creationId xmlns:a16="http://schemas.microsoft.com/office/drawing/2014/main" id="{130AD765-55CB-48E4-6763-3BCACA828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295"/>
            <a:ext cx="1918002" cy="1449463"/>
          </a:xfrm>
          <a:prstGeom prst="rect">
            <a:avLst/>
          </a:prstGeom>
        </p:spPr>
      </p:pic>
      <p:pic>
        <p:nvPicPr>
          <p:cNvPr id="3" name="Picture 2" descr="A close-up of a seal&#10;&#10;AI-generated content may be incorrect.">
            <a:extLst>
              <a:ext uri="{FF2B5EF4-FFF2-40B4-BE49-F238E27FC236}">
                <a16:creationId xmlns:a16="http://schemas.microsoft.com/office/drawing/2014/main" id="{E84DF469-D057-D47B-67BA-0FEFE41B6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773" y="-6295"/>
            <a:ext cx="1809750" cy="1447800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09FFDBBB-0A24-9000-5D14-CF1642AAA9FD}"/>
              </a:ext>
            </a:extLst>
          </p:cNvPr>
          <p:cNvSpPr txBox="1"/>
          <p:nvPr/>
        </p:nvSpPr>
        <p:spPr>
          <a:xfrm>
            <a:off x="81744" y="510633"/>
            <a:ext cx="12025336" cy="148502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600" b="1" dirty="0">
                <a:solidFill>
                  <a:srgbClr val="002060"/>
                </a:solidFill>
                <a:latin typeface="Times New Roman"/>
                <a:cs typeface="Times New Roman"/>
              </a:rPr>
              <a:t>CMR TECHNICAL CAMPUS</a:t>
            </a:r>
          </a:p>
          <a:p>
            <a:pPr marL="5715" algn="ctr">
              <a:lnSpc>
                <a:spcPct val="100000"/>
              </a:lnSpc>
              <a:spcBef>
                <a:spcPts val="95"/>
              </a:spcBef>
            </a:pPr>
            <a:r>
              <a:rPr lang="en-US" sz="2600" b="1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en-US" sz="22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UGC</a:t>
            </a:r>
            <a:r>
              <a:rPr lang="en-US" sz="2200" b="1" spc="-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22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AUTONOMOUS</a:t>
            </a:r>
            <a:endParaRPr lang="en-US" sz="2200" dirty="0">
              <a:latin typeface="Times New Roman"/>
              <a:cs typeface="Times New Roman"/>
            </a:endParaRPr>
          </a:p>
          <a:p>
            <a:pPr marL="9525" algn="ctr">
              <a:lnSpc>
                <a:spcPct val="100000"/>
              </a:lnSpc>
              <a:spcBef>
                <a:spcPts val="15"/>
              </a:spcBef>
            </a:pPr>
            <a:r>
              <a:rPr lang="en-US" b="1" dirty="0">
                <a:solidFill>
                  <a:srgbClr val="465461"/>
                </a:solidFill>
                <a:latin typeface="Times New Roman"/>
                <a:cs typeface="Times New Roman"/>
              </a:rPr>
              <a:t>Accredited</a:t>
            </a:r>
            <a:r>
              <a:rPr lang="en-US" b="1" spc="-4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465461"/>
                </a:solidFill>
                <a:latin typeface="Times New Roman"/>
                <a:cs typeface="Times New Roman"/>
              </a:rPr>
              <a:t>by</a:t>
            </a:r>
            <a:r>
              <a:rPr lang="en-US" b="1" spc="-1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465461"/>
                </a:solidFill>
                <a:latin typeface="Times New Roman"/>
                <a:cs typeface="Times New Roman"/>
              </a:rPr>
              <a:t>NBA</a:t>
            </a:r>
            <a:r>
              <a:rPr lang="en-US" b="1" spc="-11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465461"/>
                </a:solidFill>
                <a:latin typeface="Times New Roman"/>
                <a:cs typeface="Times New Roman"/>
              </a:rPr>
              <a:t>&amp;</a:t>
            </a:r>
            <a:r>
              <a:rPr lang="en-US" b="1" spc="-2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465461"/>
                </a:solidFill>
                <a:latin typeface="Times New Roman"/>
                <a:cs typeface="Times New Roman"/>
              </a:rPr>
              <a:t>NAAC</a:t>
            </a:r>
            <a:r>
              <a:rPr lang="en-US" b="1" spc="-1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465461"/>
                </a:solidFill>
                <a:latin typeface="Times New Roman"/>
                <a:cs typeface="Times New Roman"/>
              </a:rPr>
              <a:t>with</a:t>
            </a:r>
            <a:r>
              <a:rPr lang="en-US" b="1" spc="-12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465461"/>
                </a:solidFill>
                <a:latin typeface="Times New Roman"/>
                <a:cs typeface="Times New Roman"/>
              </a:rPr>
              <a:t>A</a:t>
            </a:r>
            <a:r>
              <a:rPr lang="en-US" b="1" spc="-11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lang="en-US" b="1" spc="-10" dirty="0">
                <a:solidFill>
                  <a:srgbClr val="465461"/>
                </a:solidFill>
                <a:latin typeface="Times New Roman"/>
                <a:cs typeface="Times New Roman"/>
              </a:rPr>
              <a:t>Grade</a:t>
            </a:r>
            <a:endParaRPr lang="en-US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195"/>
              </a:spcBef>
            </a:pPr>
            <a:r>
              <a:rPr lang="en-US" b="1" dirty="0">
                <a:solidFill>
                  <a:srgbClr val="465461"/>
                </a:solidFill>
                <a:latin typeface="Times New Roman"/>
                <a:cs typeface="Times New Roman"/>
              </a:rPr>
              <a:t>Approved</a:t>
            </a:r>
            <a:r>
              <a:rPr lang="en-US" b="1" spc="-5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465461"/>
                </a:solidFill>
                <a:latin typeface="Times New Roman"/>
                <a:cs typeface="Times New Roman"/>
              </a:rPr>
              <a:t>by</a:t>
            </a:r>
            <a:r>
              <a:rPr lang="en-US" b="1" spc="-11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465461"/>
                </a:solidFill>
                <a:latin typeface="Times New Roman"/>
                <a:cs typeface="Times New Roman"/>
              </a:rPr>
              <a:t>AICTE,</a:t>
            </a:r>
            <a:r>
              <a:rPr lang="en-US" b="1" spc="-2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465461"/>
                </a:solidFill>
                <a:latin typeface="Times New Roman"/>
                <a:cs typeface="Times New Roman"/>
              </a:rPr>
              <a:t>New</a:t>
            </a:r>
            <a:r>
              <a:rPr lang="en-US" b="1" spc="-2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465461"/>
                </a:solidFill>
                <a:latin typeface="Times New Roman"/>
                <a:cs typeface="Times New Roman"/>
              </a:rPr>
              <a:t>Delhi</a:t>
            </a:r>
            <a:r>
              <a:rPr lang="en-US" b="1" spc="-2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lang="en-US" b="1" spc="-10" dirty="0">
                <a:solidFill>
                  <a:srgbClr val="465461"/>
                </a:solidFill>
                <a:latin typeface="Times New Roman"/>
                <a:cs typeface="Times New Roman"/>
              </a:rPr>
              <a:t>and</a:t>
            </a:r>
            <a:r>
              <a:rPr lang="en-US" b="1" spc="-10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465461"/>
                </a:solidFill>
                <a:latin typeface="Times New Roman"/>
                <a:cs typeface="Times New Roman"/>
              </a:rPr>
              <a:t>Affiliated</a:t>
            </a:r>
            <a:r>
              <a:rPr lang="en-US" b="1" spc="-3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465461"/>
                </a:solidFill>
                <a:latin typeface="Times New Roman"/>
                <a:cs typeface="Times New Roman"/>
              </a:rPr>
              <a:t>to</a:t>
            </a:r>
            <a:r>
              <a:rPr lang="en-US" b="1" spc="-2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465461"/>
                </a:solidFill>
                <a:latin typeface="Times New Roman"/>
                <a:cs typeface="Times New Roman"/>
              </a:rPr>
              <a:t>JNTU,</a:t>
            </a:r>
            <a:r>
              <a:rPr lang="en-US" b="1" spc="-2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lang="en-US" b="1" spc="-10" dirty="0">
                <a:solidFill>
                  <a:srgbClr val="465461"/>
                </a:solidFill>
                <a:latin typeface="Times New Roman"/>
                <a:cs typeface="Times New Roman"/>
              </a:rPr>
              <a:t>Hyderabad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657C0CF2-1422-9E83-1A7C-7D451997E4DE}"/>
              </a:ext>
            </a:extLst>
          </p:cNvPr>
          <p:cNvSpPr txBox="1"/>
          <p:nvPr/>
        </p:nvSpPr>
        <p:spPr>
          <a:xfrm>
            <a:off x="-256256" y="2002771"/>
            <a:ext cx="12201674" cy="129266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1811F2"/>
                </a:solidFill>
                <a:latin typeface="Times New Roman"/>
                <a:cs typeface="Times New Roman"/>
              </a:rPr>
              <a:t>Department of Information Technology </a:t>
            </a:r>
            <a:endParaRPr lang="en-US" sz="2000" b="1" dirty="0">
              <a:latin typeface="Times New Roman"/>
              <a:cs typeface="Times New Roman"/>
            </a:endParaRPr>
          </a:p>
          <a:p>
            <a:pPr algn="ctr"/>
            <a:r>
              <a:rPr lang="en-US" sz="2200" dirty="0">
                <a:latin typeface="Times New Roman"/>
                <a:cs typeface="Times New Roman"/>
              </a:rPr>
              <a:t>Major Project Stage -2 </a:t>
            </a:r>
          </a:p>
          <a:p>
            <a:pPr algn="ctr"/>
            <a:r>
              <a:rPr lang="en-US" sz="2000" b="1" dirty="0">
                <a:latin typeface="Times New Roman"/>
                <a:cs typeface="Times New Roman"/>
              </a:rPr>
              <a:t>Review-2 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E0249930-C7B0-ABF3-3419-F140ABE7407A}"/>
              </a:ext>
            </a:extLst>
          </p:cNvPr>
          <p:cNvSpPr txBox="1"/>
          <p:nvPr/>
        </p:nvSpPr>
        <p:spPr>
          <a:xfrm>
            <a:off x="405780" y="3332901"/>
            <a:ext cx="11521280" cy="87203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n-GB" sz="2200" b="1" i="0" u="none" strike="noStrike" dirty="0">
                <a:solidFill>
                  <a:srgbClr val="002060"/>
                </a:solidFill>
                <a:effectLst/>
                <a:latin typeface="Times New Roman" panose="02020603050405020304" pitchFamily="18" charset="0"/>
              </a:rPr>
              <a:t>Project Title : Privacy Enhanced Anonymous Cloud Authentication Framework </a:t>
            </a:r>
          </a:p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n-GB" sz="2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With Multi-Factor Protection</a:t>
            </a:r>
            <a:endParaRPr lang="en-GB" sz="2200" b="1" dirty="0">
              <a:solidFill>
                <a:srgbClr val="002060"/>
              </a:solidFill>
              <a:effectLst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2D9A932E-4C3E-F947-3059-A5050B163014}"/>
              </a:ext>
            </a:extLst>
          </p:cNvPr>
          <p:cNvSpPr txBox="1"/>
          <p:nvPr/>
        </p:nvSpPr>
        <p:spPr>
          <a:xfrm>
            <a:off x="1125860" y="4725144"/>
            <a:ext cx="3888432" cy="101566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/>
                <a:cs typeface="Arial"/>
              </a:rPr>
              <a:t>Project Supervisor :</a:t>
            </a:r>
            <a:endParaRPr lang="en-US" sz="2000" b="1" dirty="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cs typeface="Arial"/>
              </a:rPr>
              <a:t>Name :</a:t>
            </a:r>
            <a:r>
              <a:rPr lang="en-US" sz="2000" dirty="0">
                <a:latin typeface="Times New Roman"/>
                <a:cs typeface="Arial"/>
              </a:rPr>
              <a:t> V. Sri Suma</a:t>
            </a:r>
          </a:p>
          <a:p>
            <a:r>
              <a:rPr lang="en-US" sz="2000" b="1" dirty="0">
                <a:latin typeface="Times New Roman"/>
                <a:cs typeface="Arial"/>
              </a:rPr>
              <a:t>Designation : </a:t>
            </a:r>
            <a:r>
              <a:rPr lang="en-US" sz="2000" dirty="0">
                <a:latin typeface="Times New Roman"/>
                <a:cs typeface="Arial"/>
              </a:rPr>
              <a:t>Assistant Professor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A51841-C454-50BD-C2E2-B6EA5D44F605}"/>
              </a:ext>
            </a:extLst>
          </p:cNvPr>
          <p:cNvSpPr txBox="1"/>
          <p:nvPr/>
        </p:nvSpPr>
        <p:spPr>
          <a:xfrm>
            <a:off x="5518348" y="4365104"/>
            <a:ext cx="5153225" cy="2112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Presented By : </a:t>
            </a:r>
          </a:p>
          <a:p>
            <a:pPr>
              <a:lnSpc>
                <a:spcPct val="150000"/>
              </a:lnSpc>
            </a:pPr>
            <a:r>
              <a:rPr lang="en-IN" b="1" dirty="0"/>
              <a:t>Batch-14</a:t>
            </a:r>
          </a:p>
          <a:p>
            <a:pPr>
              <a:lnSpc>
                <a:spcPct val="150000"/>
              </a:lnSpc>
            </a:pPr>
            <a:r>
              <a:rPr lang="en-IN" dirty="0" err="1"/>
              <a:t>H.No</a:t>
            </a:r>
            <a:r>
              <a:rPr lang="en-IN" dirty="0"/>
              <a:t> : 227R1A12B8        Name : </a:t>
            </a:r>
            <a:r>
              <a:rPr lang="en-IN" dirty="0" err="1"/>
              <a:t>P.Pravallika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 err="1"/>
              <a:t>H.No</a:t>
            </a:r>
            <a:r>
              <a:rPr lang="en-IN" dirty="0"/>
              <a:t> : 227R1A12C2        Name : </a:t>
            </a:r>
            <a:r>
              <a:rPr lang="en-IN" dirty="0" err="1"/>
              <a:t>R.Narendar</a:t>
            </a:r>
            <a:r>
              <a:rPr lang="en-IN" dirty="0"/>
              <a:t> </a:t>
            </a:r>
          </a:p>
          <a:p>
            <a:pPr>
              <a:lnSpc>
                <a:spcPct val="150000"/>
              </a:lnSpc>
            </a:pPr>
            <a:r>
              <a:rPr lang="en-IN" dirty="0" err="1"/>
              <a:t>H.No</a:t>
            </a:r>
            <a:r>
              <a:rPr lang="en-IN" dirty="0"/>
              <a:t> : 227R1A1275        Name : </a:t>
            </a:r>
            <a:r>
              <a:rPr lang="en-IN" dirty="0" err="1"/>
              <a:t>Ch.Sai</a:t>
            </a:r>
            <a:r>
              <a:rPr lang="en-IN" dirty="0"/>
              <a:t> Kiran </a:t>
            </a:r>
            <a:r>
              <a:rPr lang="en-IN" b="1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1898652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DBD27D-36BE-6329-7E3C-3A8119BFAEC4}"/>
              </a:ext>
            </a:extLst>
          </p:cNvPr>
          <p:cNvSpPr txBox="1"/>
          <p:nvPr/>
        </p:nvSpPr>
        <p:spPr>
          <a:xfrm>
            <a:off x="1485900" y="188640"/>
            <a:ext cx="8712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E18A81-0E84-40A2-6E32-46715C9C9181}"/>
              </a:ext>
            </a:extLst>
          </p:cNvPr>
          <p:cNvSpPr txBox="1"/>
          <p:nvPr/>
        </p:nvSpPr>
        <p:spPr>
          <a:xfrm>
            <a:off x="1485900" y="920258"/>
            <a:ext cx="4752528" cy="554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Introduction and overview of the project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Existing System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Disadvantages of Existing System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Proposed System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Advantages of Proposed System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Hardware and Software Requirements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Novelty of the Project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System Architecture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Modules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UML Diagrams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9C4C4-D95C-7391-0107-F2AB49839E92}"/>
              </a:ext>
            </a:extLst>
          </p:cNvPr>
          <p:cNvSpPr txBox="1"/>
          <p:nvPr/>
        </p:nvSpPr>
        <p:spPr>
          <a:xfrm>
            <a:off x="6238428" y="927965"/>
            <a:ext cx="4536504" cy="277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Source Code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Results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Conclusion &amp; Future Enhancements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References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GitHub Link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286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5880" y="476672"/>
            <a:ext cx="10513167" cy="1275269"/>
          </a:xfrm>
          <a:prstGeom prst="rect">
            <a:avLst/>
          </a:prstGeom>
        </p:spPr>
        <p:txBody>
          <a:bodyPr vert="horz" wrap="square" lIns="0" tIns="302816" rIns="0" bIns="0" rtlCol="0" anchor="b">
            <a:sp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OVERVIEW OF THE PROJECT  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57ECC9-137B-D47B-A951-1457C8F3E484}"/>
              </a:ext>
            </a:extLst>
          </p:cNvPr>
          <p:cNvSpPr txBox="1"/>
          <p:nvPr/>
        </p:nvSpPr>
        <p:spPr>
          <a:xfrm>
            <a:off x="1989956" y="1844824"/>
            <a:ext cx="9289032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offers scalable and cost-effective data management but introduces privacy and security risks due to centralized control.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encryption solutions lack proper user anonymity and are vulnerable to impersonation attacks.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framework ensures identity anonymization using hashed usernames and biometric data, along with session-based multi-factor authentication for secure access.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encryption improves data protection, where ECC provides strong key security and ChaCha20 enables faster file encryption with over 50% performance improvement.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BBDFB-8F3D-4CEE-3543-FDE752C2B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25F7F1-0017-1A33-62D2-FEA359DA0E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7988" y="332656"/>
            <a:ext cx="7056784" cy="737831"/>
          </a:xfrm>
          <a:prstGeom prst="rect">
            <a:avLst/>
          </a:prstGeom>
        </p:spPr>
        <p:txBody>
          <a:bodyPr vert="horz" wrap="square" lIns="0" tIns="182198" rIns="0" bIns="0" rtlCol="0" anchor="b">
            <a:spAutoFit/>
          </a:bodyPr>
          <a:lstStyle/>
          <a:p>
            <a:pPr marL="2004094" algn="ctr">
              <a:lnSpc>
                <a:spcPct val="100000"/>
              </a:lnSpc>
              <a:spcBef>
                <a:spcPts val="105"/>
              </a:spcBef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IN" sz="35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sz="35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8670793-EC59-D3DE-DD63-052AD75EE9C5}"/>
              </a:ext>
            </a:extLst>
          </p:cNvPr>
          <p:cNvSpPr txBox="1"/>
          <p:nvPr/>
        </p:nvSpPr>
        <p:spPr>
          <a:xfrm>
            <a:off x="1917948" y="1070487"/>
            <a:ext cx="9354673" cy="4995367"/>
          </a:xfrm>
          <a:prstGeom prst="rect">
            <a:avLst/>
          </a:prstGeom>
        </p:spPr>
        <p:txBody>
          <a:bodyPr vert="horz" wrap="square" lIns="0" tIns="150456" rIns="0" bIns="0" rtlCol="0">
            <a:spAutoFit/>
          </a:bodyPr>
          <a:lstStyle/>
          <a:p>
            <a:pPr marL="354859" indent="-342162" algn="just">
              <a:lnSpc>
                <a:spcPct val="150000"/>
              </a:lnSpc>
              <a:spcBef>
                <a:spcPts val="1185"/>
              </a:spcBef>
              <a:buFont typeface="Wingdings"/>
              <a:buChar char=""/>
              <a:tabLst>
                <a:tab pos="354859" algn="l"/>
              </a:tabLst>
            </a:pP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2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sz="2000" spc="3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000" spc="3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represents</a:t>
            </a:r>
            <a:r>
              <a:rPr sz="2000" spc="1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4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</a:t>
            </a:r>
            <a:r>
              <a:rPr sz="2000" spc="3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</a:t>
            </a:r>
            <a:r>
              <a:rPr sz="2000" spc="2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leap</a:t>
            </a:r>
            <a:r>
              <a:rPr sz="2000" spc="3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000" spc="2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4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  <a:r>
              <a:rPr sz="2000" spc="3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sz="2000" spc="3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IN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2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past,</a:t>
            </a:r>
            <a:r>
              <a:rPr sz="2000" spc="-3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sz="2000" spc="-1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-4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sz="2000" spc="-2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physically</a:t>
            </a:r>
            <a:r>
              <a:rPr sz="2000" spc="-5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stored</a:t>
            </a:r>
            <a:r>
              <a:rPr sz="2000" spc="-3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-2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cabinets</a:t>
            </a:r>
            <a:r>
              <a:rPr sz="2000" spc="-4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2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sz="2000" spc="-4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relied</a:t>
            </a:r>
            <a:r>
              <a:rPr sz="2000" spc="-3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000" spc="-3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locks</a:t>
            </a:r>
            <a:r>
              <a:rPr sz="2000" spc="-3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3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859" marR="5078" indent="-342797" algn="just">
              <a:lnSpc>
                <a:spcPct val="150000"/>
              </a:lnSpc>
              <a:buFont typeface="Wingdings"/>
              <a:buChar char=""/>
              <a:tabLst>
                <a:tab pos="354859" algn="l"/>
              </a:tabLst>
            </a:pP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Today's</a:t>
            </a:r>
            <a:r>
              <a:rPr sz="2000" spc="3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sz="2000" spc="4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platforms</a:t>
            </a:r>
            <a:r>
              <a:rPr sz="2000" spc="4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000" spc="5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4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</a:t>
            </a:r>
            <a:r>
              <a:rPr sz="2000" spc="5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sz="2000" spc="4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that,</a:t>
            </a:r>
            <a:r>
              <a:rPr sz="2000" spc="4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z="2000" spc="5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</a:t>
            </a:r>
            <a:r>
              <a:rPr sz="2000" spc="5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sz="2000" spc="4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spc="-2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scalable,</a:t>
            </a:r>
            <a:r>
              <a:rPr sz="2000" spc="-3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introduces</a:t>
            </a:r>
            <a:r>
              <a:rPr sz="2000" spc="-2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sz="2000" spc="-2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vulnerabilities.</a:t>
            </a:r>
            <a:r>
              <a:rPr sz="2000" spc="-3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-2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000" spc="-2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system,</a:t>
            </a:r>
            <a:r>
              <a:rPr sz="2000" spc="-3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000" spc="-2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2000" spc="-2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data,</a:t>
            </a:r>
            <a:r>
              <a:rPr sz="2000" spc="-1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including</a:t>
            </a:r>
            <a:r>
              <a:rPr sz="2000" spc="-3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usernames</a:t>
            </a:r>
            <a:r>
              <a:rPr sz="2000" spc="-2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passwords,</a:t>
            </a:r>
            <a:r>
              <a:rPr sz="2000" spc="-2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-1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consolidated</a:t>
            </a:r>
            <a:r>
              <a:rPr sz="2000" spc="-2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sz="2000" spc="-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</a:t>
            </a:r>
            <a:r>
              <a:rPr sz="2000" spc="-2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859" indent="-342162" algn="just">
              <a:lnSpc>
                <a:spcPct val="150000"/>
              </a:lnSpc>
              <a:spcBef>
                <a:spcPts val="1080"/>
              </a:spcBef>
              <a:buFont typeface="Wingdings"/>
              <a:buChar char=""/>
              <a:tabLst>
                <a:tab pos="354859" algn="l"/>
              </a:tabLst>
            </a:pP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sz="2000" spc="-4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</a:t>
            </a:r>
            <a:r>
              <a:rPr sz="2000" spc="-4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000" spc="-3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</a:t>
            </a:r>
            <a:r>
              <a:rPr sz="2000" spc="-4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1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  <a:r>
              <a:rPr sz="2000" spc="-4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2000" spc="-2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activities,</a:t>
            </a:r>
            <a:r>
              <a:rPr sz="2000" spc="-6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compromising</a:t>
            </a:r>
            <a:r>
              <a:rPr sz="2000" spc="-3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2000" spc="-25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4654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anonymity.</a:t>
            </a:r>
            <a:endParaRPr lang="en-IN" sz="2000" spc="-10" dirty="0">
              <a:solidFill>
                <a:srgbClr val="4654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859" indent="-342162" algn="just">
              <a:lnSpc>
                <a:spcPct val="150000"/>
              </a:lnSpc>
              <a:spcBef>
                <a:spcPts val="1080"/>
              </a:spcBef>
              <a:buFont typeface="Wingdings"/>
              <a:buChar char=""/>
              <a:tabLst>
                <a:tab pos="354859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Reliance on username-password authentication makes the system vulnerable to phishing, credential attacks, and unauthorized access while also failing to ensure user anonymity.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40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2473" y="980728"/>
            <a:ext cx="10369151" cy="567315"/>
          </a:xfrm>
          <a:prstGeom prst="rect">
            <a:avLst/>
          </a:prstGeom>
        </p:spPr>
        <p:txBody>
          <a:bodyPr vert="horz" wrap="square" lIns="0" tIns="13332" rIns="0" bIns="0" rtlCol="0" anchor="b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105"/>
              </a:spcBef>
            </a:pPr>
            <a:r>
              <a:rPr sz="35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sz="35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500" b="1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sz="35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17949" y="2132856"/>
            <a:ext cx="9361040" cy="3225595"/>
          </a:xfrm>
          <a:prstGeom prst="rect">
            <a:avLst/>
          </a:prstGeom>
        </p:spPr>
        <p:txBody>
          <a:bodyPr vert="horz" wrap="square" lIns="0" tIns="11427" rIns="0" bIns="0" rtlCol="0">
            <a:spAutoFit/>
          </a:bodyPr>
          <a:lstStyle/>
          <a:p>
            <a:pPr marL="355493" marR="5078" indent="-342797" algn="just">
              <a:lnSpc>
                <a:spcPct val="150100"/>
              </a:lnSpc>
              <a:spcBef>
                <a:spcPts val="90"/>
              </a:spcBef>
              <a:buFont typeface="Wingdings"/>
              <a:buChar char=""/>
              <a:tabLst>
                <a:tab pos="355493" algn="l"/>
              </a:tabLst>
            </a:pPr>
            <a:r>
              <a:rPr sz="1999" b="1" dirty="0">
                <a:solidFill>
                  <a:srgbClr val="465461"/>
                </a:solidFill>
                <a:latin typeface="Times New Roman"/>
                <a:cs typeface="Times New Roman"/>
              </a:rPr>
              <a:t>Lack</a:t>
            </a:r>
            <a:r>
              <a:rPr sz="1999" b="1" spc="47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b="1" dirty="0">
                <a:solidFill>
                  <a:srgbClr val="465461"/>
                </a:solidFill>
                <a:latin typeface="Times New Roman"/>
                <a:cs typeface="Times New Roman"/>
              </a:rPr>
              <a:t>of</a:t>
            </a:r>
            <a:r>
              <a:rPr sz="1999" b="1" spc="47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b="1" dirty="0">
                <a:solidFill>
                  <a:srgbClr val="465461"/>
                </a:solidFill>
                <a:latin typeface="Times New Roman"/>
                <a:cs typeface="Times New Roman"/>
              </a:rPr>
              <a:t>User</a:t>
            </a:r>
            <a:r>
              <a:rPr sz="1999" b="1" spc="41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b="1" dirty="0">
                <a:solidFill>
                  <a:srgbClr val="465461"/>
                </a:solidFill>
                <a:latin typeface="Times New Roman"/>
                <a:cs typeface="Times New Roman"/>
              </a:rPr>
              <a:t>Anonymity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:</a:t>
            </a:r>
            <a:r>
              <a:rPr sz="1999" spc="45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Centralized</a:t>
            </a:r>
            <a:r>
              <a:rPr sz="1999" spc="459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storage</a:t>
            </a:r>
            <a:r>
              <a:rPr sz="1999" spc="45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of</a:t>
            </a:r>
            <a:r>
              <a:rPr sz="1999" spc="47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user</a:t>
            </a:r>
            <a:r>
              <a:rPr sz="1999" spc="459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PII(P</a:t>
            </a:r>
            <a:r>
              <a:rPr sz="1799" dirty="0">
                <a:solidFill>
                  <a:srgbClr val="465461"/>
                </a:solidFill>
                <a:latin typeface="Arial MT"/>
                <a:cs typeface="Arial MT"/>
              </a:rPr>
              <a:t>ersonally</a:t>
            </a:r>
            <a:r>
              <a:rPr sz="1799" spc="30" dirty="0">
                <a:solidFill>
                  <a:srgbClr val="465461"/>
                </a:solidFill>
                <a:latin typeface="Arial MT"/>
                <a:cs typeface="Arial MT"/>
              </a:rPr>
              <a:t> </a:t>
            </a:r>
            <a:r>
              <a:rPr sz="1799" spc="-10" dirty="0">
                <a:solidFill>
                  <a:srgbClr val="465461"/>
                </a:solidFill>
                <a:latin typeface="Arial MT"/>
                <a:cs typeface="Arial MT"/>
              </a:rPr>
              <a:t>Identifiable </a:t>
            </a:r>
            <a:r>
              <a:rPr sz="1799" dirty="0">
                <a:solidFill>
                  <a:srgbClr val="465461"/>
                </a:solidFill>
                <a:latin typeface="Arial MT"/>
                <a:cs typeface="Arial MT"/>
              </a:rPr>
              <a:t>Information</a:t>
            </a:r>
            <a:r>
              <a:rPr sz="1799" spc="15" dirty="0">
                <a:solidFill>
                  <a:srgbClr val="465461"/>
                </a:solidFill>
                <a:latin typeface="Arial MT"/>
                <a:cs typeface="Arial MT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)</a:t>
            </a:r>
            <a:r>
              <a:rPr sz="1999" spc="30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allows</a:t>
            </a:r>
            <a:r>
              <a:rPr sz="1999" spc="29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administrators</a:t>
            </a:r>
            <a:r>
              <a:rPr sz="1999" spc="29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to</a:t>
            </a:r>
            <a:r>
              <a:rPr sz="1999" spc="31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track</a:t>
            </a:r>
            <a:r>
              <a:rPr sz="1999" spc="29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and</a:t>
            </a:r>
            <a:r>
              <a:rPr sz="1999" spc="31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link</a:t>
            </a:r>
            <a:r>
              <a:rPr sz="1999" spc="31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user</a:t>
            </a:r>
            <a:r>
              <a:rPr sz="1999" spc="29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activities,</a:t>
            </a:r>
            <a:r>
              <a:rPr sz="1999" spc="28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posing</a:t>
            </a:r>
            <a:r>
              <a:rPr sz="1999" spc="30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spc="-10" dirty="0">
                <a:solidFill>
                  <a:srgbClr val="465461"/>
                </a:solidFill>
                <a:latin typeface="Times New Roman"/>
                <a:cs typeface="Times New Roman"/>
              </a:rPr>
              <a:t>serious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privacy</a:t>
            </a:r>
            <a:r>
              <a:rPr sz="1999" spc="-2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spc="-10" dirty="0">
                <a:solidFill>
                  <a:srgbClr val="465461"/>
                </a:solidFill>
                <a:latin typeface="Times New Roman"/>
                <a:cs typeface="Times New Roman"/>
              </a:rPr>
              <a:t>risks.</a:t>
            </a:r>
            <a:endParaRPr sz="1999" dirty="0">
              <a:latin typeface="Times New Roman"/>
              <a:cs typeface="Times New Roman"/>
            </a:endParaRPr>
          </a:p>
          <a:p>
            <a:pPr marL="355493" marR="49515" indent="-342797" algn="just">
              <a:lnSpc>
                <a:spcPct val="150000"/>
              </a:lnSpc>
              <a:buFont typeface="Wingdings"/>
              <a:buChar char=""/>
              <a:tabLst>
                <a:tab pos="355493" algn="l"/>
              </a:tabLst>
            </a:pPr>
            <a:r>
              <a:rPr sz="1999" b="1" dirty="0">
                <a:solidFill>
                  <a:srgbClr val="465461"/>
                </a:solidFill>
                <a:latin typeface="Times New Roman"/>
                <a:cs typeface="Times New Roman"/>
              </a:rPr>
              <a:t>Vulnerability</a:t>
            </a:r>
            <a:r>
              <a:rPr sz="1999" b="1" spc="28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b="1" dirty="0">
                <a:solidFill>
                  <a:srgbClr val="465461"/>
                </a:solidFill>
                <a:latin typeface="Times New Roman"/>
                <a:cs typeface="Times New Roman"/>
              </a:rPr>
              <a:t>to</a:t>
            </a:r>
            <a:r>
              <a:rPr sz="1999" b="1" spc="27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b="1" dirty="0">
                <a:solidFill>
                  <a:srgbClr val="465461"/>
                </a:solidFill>
                <a:latin typeface="Times New Roman"/>
                <a:cs typeface="Times New Roman"/>
              </a:rPr>
              <a:t>Impersonation</a:t>
            </a:r>
            <a:r>
              <a:rPr sz="1999" b="1" spc="28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b="1" dirty="0">
                <a:solidFill>
                  <a:srgbClr val="465461"/>
                </a:solidFill>
                <a:latin typeface="Times New Roman"/>
                <a:cs typeface="Times New Roman"/>
              </a:rPr>
              <a:t>Attacks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:</a:t>
            </a:r>
            <a:r>
              <a:rPr sz="1999" spc="26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Reliance</a:t>
            </a:r>
            <a:r>
              <a:rPr sz="1999" spc="27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on</a:t>
            </a:r>
            <a:r>
              <a:rPr sz="1999" spc="28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spc="-10" dirty="0">
                <a:solidFill>
                  <a:srgbClr val="465461"/>
                </a:solidFill>
                <a:latin typeface="Times New Roman"/>
                <a:cs typeface="Times New Roman"/>
              </a:rPr>
              <a:t>single-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factor</a:t>
            </a:r>
            <a:r>
              <a:rPr sz="1999" spc="27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spc="-10" dirty="0">
                <a:solidFill>
                  <a:srgbClr val="465461"/>
                </a:solidFill>
                <a:latin typeface="Times New Roman"/>
                <a:cs typeface="Times New Roman"/>
              </a:rPr>
              <a:t>authentication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makes</a:t>
            </a:r>
            <a:r>
              <a:rPr sz="1999" spc="-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the</a:t>
            </a:r>
            <a:r>
              <a:rPr sz="1999" spc="-2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system</a:t>
            </a:r>
            <a:r>
              <a:rPr sz="1999" spc="-2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prone</a:t>
            </a:r>
            <a:r>
              <a:rPr sz="1999" spc="-4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to</a:t>
            </a:r>
            <a:r>
              <a:rPr sz="1999" spc="-1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credential</a:t>
            </a:r>
            <a:r>
              <a:rPr sz="1999" spc="-4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theft</a:t>
            </a:r>
            <a:r>
              <a:rPr sz="1999" spc="-3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and</a:t>
            </a:r>
            <a:r>
              <a:rPr sz="1999" spc="-1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unauthorized</a:t>
            </a:r>
            <a:r>
              <a:rPr sz="1999" spc="-4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spc="-10" dirty="0">
                <a:solidFill>
                  <a:srgbClr val="465461"/>
                </a:solidFill>
                <a:latin typeface="Times New Roman"/>
                <a:cs typeface="Times New Roman"/>
              </a:rPr>
              <a:t>access.</a:t>
            </a:r>
            <a:endParaRPr sz="1999" dirty="0">
              <a:latin typeface="Times New Roman"/>
              <a:cs typeface="Times New Roman"/>
            </a:endParaRPr>
          </a:p>
          <a:p>
            <a:pPr marL="355493" marR="48880" indent="-342797" algn="just">
              <a:lnSpc>
                <a:spcPct val="150000"/>
              </a:lnSpc>
              <a:spcBef>
                <a:spcPts val="5"/>
              </a:spcBef>
              <a:buFont typeface="Wingdings"/>
              <a:buChar char=""/>
              <a:tabLst>
                <a:tab pos="355493" algn="l"/>
              </a:tabLst>
            </a:pPr>
            <a:r>
              <a:rPr sz="1999" b="1" dirty="0">
                <a:solidFill>
                  <a:srgbClr val="465461"/>
                </a:solidFill>
                <a:latin typeface="Times New Roman"/>
                <a:cs typeface="Times New Roman"/>
              </a:rPr>
              <a:t>Single</a:t>
            </a:r>
            <a:r>
              <a:rPr sz="1999" b="1" spc="8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b="1" dirty="0">
                <a:solidFill>
                  <a:srgbClr val="465461"/>
                </a:solidFill>
                <a:latin typeface="Times New Roman"/>
                <a:cs typeface="Times New Roman"/>
              </a:rPr>
              <a:t>Point</a:t>
            </a:r>
            <a:r>
              <a:rPr sz="1999" b="1" spc="9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b="1" dirty="0">
                <a:solidFill>
                  <a:srgbClr val="465461"/>
                </a:solidFill>
                <a:latin typeface="Times New Roman"/>
                <a:cs typeface="Times New Roman"/>
              </a:rPr>
              <a:t>of</a:t>
            </a:r>
            <a:r>
              <a:rPr sz="1999" b="1" spc="10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b="1" dirty="0">
                <a:solidFill>
                  <a:srgbClr val="465461"/>
                </a:solidFill>
                <a:latin typeface="Times New Roman"/>
                <a:cs typeface="Times New Roman"/>
              </a:rPr>
              <a:t>Failure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:</a:t>
            </a:r>
            <a:r>
              <a:rPr sz="1999" spc="8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A centralized</a:t>
            </a:r>
            <a:r>
              <a:rPr sz="1999" spc="8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database</a:t>
            </a:r>
            <a:r>
              <a:rPr sz="1999" spc="9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creates</a:t>
            </a:r>
            <a:r>
              <a:rPr sz="1999" spc="9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a</a:t>
            </a:r>
            <a:r>
              <a:rPr sz="1999" spc="7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single</a:t>
            </a:r>
            <a:r>
              <a:rPr sz="1999" spc="8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vulnerability,</a:t>
            </a:r>
            <a:r>
              <a:rPr sz="1999" spc="8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spc="-10" dirty="0">
                <a:solidFill>
                  <a:srgbClr val="465461"/>
                </a:solidFill>
                <a:latin typeface="Times New Roman"/>
                <a:cs typeface="Times New Roman"/>
              </a:rPr>
              <a:t>where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one</a:t>
            </a:r>
            <a:r>
              <a:rPr sz="1999" spc="-3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breach</a:t>
            </a:r>
            <a:r>
              <a:rPr sz="1999" spc="-1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can</a:t>
            </a:r>
            <a:r>
              <a:rPr sz="1999" spc="-1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expose</a:t>
            </a:r>
            <a:r>
              <a:rPr sz="1999" spc="-3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all</a:t>
            </a:r>
            <a:r>
              <a:rPr sz="1999" spc="-1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user</a:t>
            </a:r>
            <a:r>
              <a:rPr sz="1999" spc="-2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credentials</a:t>
            </a:r>
            <a:r>
              <a:rPr sz="1999" spc="-4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dirty="0">
                <a:solidFill>
                  <a:srgbClr val="465461"/>
                </a:solidFill>
                <a:latin typeface="Times New Roman"/>
                <a:cs typeface="Times New Roman"/>
              </a:rPr>
              <a:t>and </a:t>
            </a:r>
            <a:r>
              <a:rPr sz="1999" spc="-10" dirty="0">
                <a:solidFill>
                  <a:srgbClr val="465461"/>
                </a:solidFill>
                <a:latin typeface="Times New Roman"/>
                <a:cs typeface="Times New Roman"/>
              </a:rPr>
              <a:t>data.</a:t>
            </a:r>
            <a:endParaRPr sz="1999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9AD17-7AD5-7172-C76A-724BC5B2E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BE1BC4-61DE-CA49-F6B5-025B8371CED6}"/>
              </a:ext>
            </a:extLst>
          </p:cNvPr>
          <p:cNvSpPr txBox="1"/>
          <p:nvPr/>
        </p:nvSpPr>
        <p:spPr>
          <a:xfrm>
            <a:off x="981844" y="649740"/>
            <a:ext cx="1000911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D80FD75-DC0D-AEB9-8B5B-CA39DAE90D2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93912" y="1700808"/>
            <a:ext cx="8748972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Privacy-Enhanced Anonymous Cloud Authentication Framework with Multi-Factor Protection is designed to overcome the limitations of existing systems by implementing a multi-layered security approach.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shifts from a centralized model to a privacy-preserving, decentralized system, ensuring user anonymity.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Usernames and biometric data are hashed with SHA-256 during registration, preventing tracking or identity linkage.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Multi-factor authentication (password + biometric) secures login, with sessions terminated on logout to prevent misuse.</a:t>
            </a:r>
          </a:p>
        </p:txBody>
      </p:sp>
    </p:spTree>
    <p:extLst>
      <p:ext uri="{BB962C8B-B14F-4D97-AF65-F5344CB8AC3E}">
        <p14:creationId xmlns:p14="http://schemas.microsoft.com/office/powerpoint/2010/main" val="315366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CB9C2-2DBB-1053-FF16-777E901BD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AD31B4-3AE2-AF55-674A-528F853EF540}"/>
              </a:ext>
            </a:extLst>
          </p:cNvPr>
          <p:cNvSpPr txBox="1"/>
          <p:nvPr/>
        </p:nvSpPr>
        <p:spPr>
          <a:xfrm>
            <a:off x="1017848" y="826767"/>
            <a:ext cx="1000911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 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8EAC8D-2AF8-1FFE-EAD3-011BC2F71ED6}"/>
              </a:ext>
            </a:extLst>
          </p:cNvPr>
          <p:cNvSpPr txBox="1"/>
          <p:nvPr/>
        </p:nvSpPr>
        <p:spPr>
          <a:xfrm>
            <a:off x="1701924" y="2132856"/>
            <a:ext cx="8640961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identities are protected by hashing usernames and biometric data, preventing tracking or profiling by the cloud server.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Multi-factor authentication using a password and biometric scan ensures strong protection against impersonation and unauthorized access.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encryption combining ECC and ChaCha20 improves security while reducing computation time, enabling faster file uploads and downloads.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0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46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1884" y="362822"/>
            <a:ext cx="10452414" cy="56667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100"/>
              </a:spcBef>
            </a:pPr>
            <a:r>
              <a:rPr lang="en-IN" sz="35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sz="35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</a:t>
            </a:r>
            <a:r>
              <a:rPr sz="35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35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5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</a:t>
            </a:r>
            <a:r>
              <a:rPr sz="35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</a:t>
            </a:r>
            <a:r>
              <a:rPr sz="35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9956" y="1340768"/>
            <a:ext cx="3852176" cy="4842373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 marL="12696">
              <a:spcBef>
                <a:spcPts val="105"/>
              </a:spcBef>
            </a:pPr>
            <a:r>
              <a:rPr sz="1999" b="1" spc="-25" dirty="0">
                <a:solidFill>
                  <a:srgbClr val="465461"/>
                </a:solidFill>
                <a:latin typeface="Times New Roman"/>
                <a:cs typeface="Times New Roman"/>
              </a:rPr>
              <a:t>SOFTWARE</a:t>
            </a:r>
            <a:r>
              <a:rPr sz="1999" b="1" spc="-8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b="1" spc="-10" dirty="0">
                <a:solidFill>
                  <a:srgbClr val="465461"/>
                </a:solidFill>
                <a:latin typeface="Times New Roman"/>
                <a:cs typeface="Times New Roman"/>
              </a:rPr>
              <a:t>REQUIREMENTS:</a:t>
            </a:r>
            <a:endParaRPr sz="1999" dirty="0">
              <a:latin typeface="Times New Roman"/>
              <a:cs typeface="Times New Roman"/>
            </a:endParaRPr>
          </a:p>
          <a:p>
            <a:pPr marL="298360" indent="-285664">
              <a:spcBef>
                <a:spcPts val="1510"/>
              </a:spcBef>
              <a:buFont typeface="Wingdings"/>
              <a:buChar char=""/>
              <a:tabLst>
                <a:tab pos="298360" algn="l"/>
              </a:tabLst>
            </a:pPr>
            <a:r>
              <a:rPr sz="1799" dirty="0">
                <a:solidFill>
                  <a:srgbClr val="465461"/>
                </a:solidFill>
                <a:latin typeface="Times New Roman"/>
                <a:cs typeface="Times New Roman"/>
              </a:rPr>
              <a:t>Python</a:t>
            </a:r>
            <a:r>
              <a:rPr sz="1799" spc="-1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lang="en-IN" sz="1799" spc="-15" dirty="0">
                <a:solidFill>
                  <a:srgbClr val="465461"/>
                </a:solidFill>
                <a:latin typeface="Times New Roman"/>
                <a:cs typeface="Times New Roman"/>
              </a:rPr>
              <a:t>: </a:t>
            </a:r>
            <a:r>
              <a:rPr sz="1799" spc="-20" dirty="0">
                <a:solidFill>
                  <a:srgbClr val="465461"/>
                </a:solidFill>
                <a:latin typeface="Times New Roman"/>
                <a:cs typeface="Times New Roman"/>
              </a:rPr>
              <a:t>3.7.</a:t>
            </a:r>
            <a:r>
              <a:rPr lang="en-IN" sz="1799" spc="-20" dirty="0">
                <a:solidFill>
                  <a:srgbClr val="465461"/>
                </a:solidFill>
                <a:latin typeface="Times New Roman"/>
                <a:cs typeface="Times New Roman"/>
              </a:rPr>
              <a:t>4</a:t>
            </a:r>
            <a:endParaRPr sz="1799" dirty="0">
              <a:latin typeface="Times New Roman"/>
              <a:cs typeface="Times New Roman"/>
            </a:endParaRPr>
          </a:p>
          <a:p>
            <a:pPr>
              <a:spcBef>
                <a:spcPts val="90"/>
              </a:spcBef>
              <a:buClr>
                <a:srgbClr val="465461"/>
              </a:buClr>
              <a:buFont typeface="Wingdings"/>
              <a:buChar char=""/>
            </a:pPr>
            <a:endParaRPr sz="1799" dirty="0">
              <a:latin typeface="Times New Roman"/>
              <a:cs typeface="Times New Roman"/>
            </a:endParaRPr>
          </a:p>
          <a:p>
            <a:pPr marL="298360" indent="-285664">
              <a:buFont typeface="Wingdings"/>
              <a:buChar char=""/>
              <a:tabLst>
                <a:tab pos="298360" algn="l"/>
              </a:tabLst>
            </a:pPr>
            <a:r>
              <a:rPr sz="1799" dirty="0">
                <a:solidFill>
                  <a:srgbClr val="465461"/>
                </a:solidFill>
                <a:latin typeface="Times New Roman"/>
                <a:cs typeface="Times New Roman"/>
              </a:rPr>
              <a:t>Operating</a:t>
            </a:r>
            <a:r>
              <a:rPr sz="1799" spc="-5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799" dirty="0">
                <a:solidFill>
                  <a:srgbClr val="465461"/>
                </a:solidFill>
                <a:latin typeface="Times New Roman"/>
                <a:cs typeface="Times New Roman"/>
              </a:rPr>
              <a:t>system:</a:t>
            </a:r>
            <a:r>
              <a:rPr sz="1799" spc="-8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799" spc="-10" dirty="0">
                <a:solidFill>
                  <a:srgbClr val="465461"/>
                </a:solidFill>
                <a:latin typeface="Times New Roman"/>
                <a:cs typeface="Times New Roman"/>
              </a:rPr>
              <a:t>Windows</a:t>
            </a:r>
            <a:endParaRPr sz="1799" dirty="0">
              <a:latin typeface="Times New Roman"/>
              <a:cs typeface="Times New Roman"/>
            </a:endParaRPr>
          </a:p>
          <a:p>
            <a:pPr>
              <a:spcBef>
                <a:spcPts val="90"/>
              </a:spcBef>
              <a:buClr>
                <a:srgbClr val="465461"/>
              </a:buClr>
              <a:buFont typeface="Wingdings"/>
              <a:buChar char=""/>
            </a:pPr>
            <a:endParaRPr sz="1799" dirty="0">
              <a:latin typeface="Times New Roman"/>
              <a:cs typeface="Times New Roman"/>
            </a:endParaRPr>
          </a:p>
          <a:p>
            <a:pPr marL="298360" indent="-285664">
              <a:buFont typeface="Wingdings"/>
              <a:buChar char=""/>
              <a:tabLst>
                <a:tab pos="298360" algn="l"/>
              </a:tabLst>
            </a:pPr>
            <a:r>
              <a:rPr sz="1799" dirty="0">
                <a:solidFill>
                  <a:srgbClr val="465461"/>
                </a:solidFill>
                <a:latin typeface="Times New Roman"/>
                <a:cs typeface="Times New Roman"/>
              </a:rPr>
              <a:t>Fr</a:t>
            </a:r>
            <a:r>
              <a:rPr lang="en-IN" sz="1799" dirty="0" err="1">
                <a:solidFill>
                  <a:srgbClr val="465461"/>
                </a:solidFill>
                <a:latin typeface="Times New Roman"/>
                <a:cs typeface="Times New Roman"/>
              </a:rPr>
              <a:t>amework</a:t>
            </a:r>
            <a:r>
              <a:rPr lang="en-IN" sz="1799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799" dirty="0">
                <a:solidFill>
                  <a:srgbClr val="465461"/>
                </a:solidFill>
                <a:latin typeface="Times New Roman"/>
                <a:cs typeface="Times New Roman"/>
              </a:rPr>
              <a:t>: </a:t>
            </a:r>
            <a:r>
              <a:rPr sz="1799" spc="-10" dirty="0">
                <a:solidFill>
                  <a:srgbClr val="465461"/>
                </a:solidFill>
                <a:latin typeface="Times New Roman"/>
                <a:cs typeface="Times New Roman"/>
              </a:rPr>
              <a:t>Django</a:t>
            </a:r>
            <a:endParaRPr sz="1799" dirty="0">
              <a:latin typeface="Times New Roman"/>
              <a:cs typeface="Times New Roman"/>
            </a:endParaRPr>
          </a:p>
          <a:p>
            <a:pPr>
              <a:spcBef>
                <a:spcPts val="90"/>
              </a:spcBef>
              <a:buClr>
                <a:srgbClr val="465461"/>
              </a:buClr>
              <a:buFont typeface="Wingdings"/>
              <a:buChar char=""/>
            </a:pPr>
            <a:endParaRPr sz="1799" dirty="0">
              <a:latin typeface="Times New Roman"/>
              <a:cs typeface="Times New Roman"/>
            </a:endParaRPr>
          </a:p>
          <a:p>
            <a:pPr marL="298360" indent="-285664">
              <a:buFont typeface="Wingdings"/>
              <a:buChar char=""/>
              <a:tabLst>
                <a:tab pos="298360" algn="l"/>
              </a:tabLst>
            </a:pPr>
            <a:r>
              <a:rPr sz="1799" dirty="0">
                <a:solidFill>
                  <a:srgbClr val="465461"/>
                </a:solidFill>
                <a:latin typeface="Times New Roman"/>
                <a:cs typeface="Times New Roman"/>
              </a:rPr>
              <a:t>Database:</a:t>
            </a:r>
            <a:r>
              <a:rPr sz="1799" spc="-8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799" spc="-20" dirty="0">
                <a:solidFill>
                  <a:srgbClr val="465461"/>
                </a:solidFill>
                <a:latin typeface="Times New Roman"/>
                <a:cs typeface="Times New Roman"/>
              </a:rPr>
              <a:t>MySQL</a:t>
            </a:r>
            <a:endParaRPr sz="1799" dirty="0">
              <a:latin typeface="Times New Roman"/>
              <a:cs typeface="Times New Roman"/>
            </a:endParaRPr>
          </a:p>
          <a:p>
            <a:pPr>
              <a:spcBef>
                <a:spcPts val="595"/>
              </a:spcBef>
              <a:buClr>
                <a:srgbClr val="465461"/>
              </a:buClr>
              <a:buFont typeface="Wingdings"/>
              <a:buChar char=""/>
            </a:pPr>
            <a:endParaRPr sz="1799" dirty="0">
              <a:latin typeface="Times New Roman"/>
              <a:cs typeface="Times New Roman"/>
            </a:endParaRPr>
          </a:p>
          <a:p>
            <a:pPr marL="84430"/>
            <a:r>
              <a:rPr sz="1999" b="1" spc="-30" dirty="0">
                <a:solidFill>
                  <a:srgbClr val="465461"/>
                </a:solidFill>
                <a:latin typeface="Times New Roman"/>
                <a:cs typeface="Times New Roman"/>
              </a:rPr>
              <a:t>HARDWARE</a:t>
            </a:r>
            <a:r>
              <a:rPr sz="1999" b="1" spc="-6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999" b="1" spc="-10" dirty="0">
                <a:solidFill>
                  <a:srgbClr val="465461"/>
                </a:solidFill>
                <a:latin typeface="Times New Roman"/>
                <a:cs typeface="Times New Roman"/>
              </a:rPr>
              <a:t>REQUIREMENTS:</a:t>
            </a:r>
            <a:endParaRPr sz="1999" dirty="0">
              <a:latin typeface="Times New Roman"/>
              <a:cs typeface="Times New Roman"/>
            </a:endParaRPr>
          </a:p>
          <a:p>
            <a:pPr marL="370729" lvl="1" indent="-286299">
              <a:spcBef>
                <a:spcPts val="2239"/>
              </a:spcBef>
              <a:buFont typeface="Wingdings"/>
              <a:buChar char=""/>
              <a:tabLst>
                <a:tab pos="370729" algn="l"/>
              </a:tabLst>
            </a:pPr>
            <a:r>
              <a:rPr sz="1799" dirty="0">
                <a:solidFill>
                  <a:srgbClr val="465461"/>
                </a:solidFill>
                <a:latin typeface="Times New Roman"/>
                <a:cs typeface="Times New Roman"/>
              </a:rPr>
              <a:t>Processor:</a:t>
            </a:r>
            <a:r>
              <a:rPr sz="1799" spc="-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799" dirty="0">
                <a:solidFill>
                  <a:srgbClr val="465461"/>
                </a:solidFill>
                <a:latin typeface="Times New Roman"/>
                <a:cs typeface="Times New Roman"/>
              </a:rPr>
              <a:t>Intel </a:t>
            </a:r>
            <a:r>
              <a:rPr sz="1799" spc="-25" dirty="0">
                <a:solidFill>
                  <a:srgbClr val="465461"/>
                </a:solidFill>
                <a:latin typeface="Times New Roman"/>
                <a:cs typeface="Times New Roman"/>
              </a:rPr>
              <a:t>i5</a:t>
            </a:r>
            <a:endParaRPr sz="1799" dirty="0">
              <a:latin typeface="Times New Roman"/>
              <a:cs typeface="Times New Roman"/>
            </a:endParaRPr>
          </a:p>
          <a:p>
            <a:pPr lvl="1">
              <a:spcBef>
                <a:spcPts val="95"/>
              </a:spcBef>
              <a:buClr>
                <a:srgbClr val="465461"/>
              </a:buClr>
              <a:buFont typeface="Wingdings"/>
              <a:buChar char=""/>
            </a:pPr>
            <a:endParaRPr sz="1799" dirty="0">
              <a:latin typeface="Times New Roman"/>
              <a:cs typeface="Times New Roman"/>
            </a:endParaRPr>
          </a:p>
          <a:p>
            <a:pPr marL="370094" lvl="1" indent="-285664">
              <a:buFont typeface="Wingdings"/>
              <a:buChar char=""/>
              <a:tabLst>
                <a:tab pos="370094" algn="l"/>
              </a:tabLst>
            </a:pPr>
            <a:r>
              <a:rPr sz="1799" dirty="0">
                <a:solidFill>
                  <a:srgbClr val="465461"/>
                </a:solidFill>
                <a:latin typeface="Times New Roman"/>
                <a:cs typeface="Times New Roman"/>
              </a:rPr>
              <a:t>Memory:</a:t>
            </a:r>
            <a:r>
              <a:rPr sz="1799" spc="-30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799" dirty="0">
                <a:solidFill>
                  <a:srgbClr val="465461"/>
                </a:solidFill>
                <a:latin typeface="Times New Roman"/>
                <a:cs typeface="Times New Roman"/>
              </a:rPr>
              <a:t>1</a:t>
            </a:r>
            <a:r>
              <a:rPr sz="1799" spc="-4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799" dirty="0">
                <a:solidFill>
                  <a:srgbClr val="465461"/>
                </a:solidFill>
                <a:latin typeface="Times New Roman"/>
                <a:cs typeface="Times New Roman"/>
              </a:rPr>
              <a:t>TB</a:t>
            </a:r>
            <a:r>
              <a:rPr sz="1799" spc="-10" dirty="0">
                <a:solidFill>
                  <a:srgbClr val="465461"/>
                </a:solidFill>
                <a:latin typeface="Times New Roman"/>
                <a:cs typeface="Times New Roman"/>
              </a:rPr>
              <a:t> (storage)</a:t>
            </a:r>
            <a:endParaRPr sz="1799" dirty="0">
              <a:latin typeface="Times New Roman"/>
              <a:cs typeface="Times New Roman"/>
            </a:endParaRPr>
          </a:p>
          <a:p>
            <a:pPr lvl="1">
              <a:spcBef>
                <a:spcPts val="90"/>
              </a:spcBef>
              <a:buClr>
                <a:srgbClr val="465461"/>
              </a:buClr>
              <a:buFont typeface="Wingdings"/>
              <a:buChar char=""/>
            </a:pPr>
            <a:endParaRPr sz="1799" dirty="0">
              <a:latin typeface="Times New Roman"/>
              <a:cs typeface="Times New Roman"/>
            </a:endParaRPr>
          </a:p>
          <a:p>
            <a:pPr marL="370094" lvl="1" indent="-285664">
              <a:buFont typeface="Wingdings"/>
              <a:buChar char=""/>
              <a:tabLst>
                <a:tab pos="370094" algn="l"/>
              </a:tabLst>
            </a:pPr>
            <a:r>
              <a:rPr sz="1799" dirty="0">
                <a:solidFill>
                  <a:srgbClr val="465461"/>
                </a:solidFill>
                <a:latin typeface="Times New Roman"/>
                <a:cs typeface="Times New Roman"/>
              </a:rPr>
              <a:t>RAM:</a:t>
            </a:r>
            <a:r>
              <a:rPr sz="1799" spc="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799" dirty="0">
                <a:solidFill>
                  <a:srgbClr val="465461"/>
                </a:solidFill>
                <a:latin typeface="Times New Roman"/>
                <a:cs typeface="Times New Roman"/>
              </a:rPr>
              <a:t>8</a:t>
            </a:r>
            <a:r>
              <a:rPr sz="1799" spc="-15" dirty="0">
                <a:solidFill>
                  <a:srgbClr val="465461"/>
                </a:solidFill>
                <a:latin typeface="Times New Roman"/>
                <a:cs typeface="Times New Roman"/>
              </a:rPr>
              <a:t> </a:t>
            </a:r>
            <a:r>
              <a:rPr sz="1799" spc="-25" dirty="0">
                <a:solidFill>
                  <a:srgbClr val="465461"/>
                </a:solidFill>
                <a:latin typeface="Times New Roman"/>
                <a:cs typeface="Times New Roman"/>
              </a:rPr>
              <a:t>GB</a:t>
            </a:r>
            <a:endParaRPr sz="1799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547BD-DF08-C77F-EE25-385572A3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B98FB5C-3628-1106-8025-00FF080EF2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9876" y="692696"/>
            <a:ext cx="10452414" cy="56667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100"/>
              </a:spcBef>
            </a:pPr>
            <a:r>
              <a:rPr lang="en-IN" sz="35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PROJECT</a:t>
            </a:r>
            <a:endParaRPr sz="35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C6C1EB-E9C0-241F-0712-02DB736F8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948" y="1484784"/>
            <a:ext cx="9466053" cy="4307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user anonymity by hashing usernames and biometric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biometric-based multi-factor authentication without storing raw biometrics.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hybrid encryption (ECC + ChaCha20) for security with high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encryption performance comparison using computation graphs.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Prevents cloud and session impersonation attacks through secure session control.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privacy-preserving public/private file access in cloud storage.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Protects data even from cloud administrators (administrator-blind model).</a:t>
            </a:r>
          </a:p>
        </p:txBody>
      </p:sp>
    </p:spTree>
    <p:extLst>
      <p:ext uri="{BB962C8B-B14F-4D97-AF65-F5344CB8AC3E}">
        <p14:creationId xmlns:p14="http://schemas.microsoft.com/office/powerpoint/2010/main" val="73857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BCA0EE-D20C-09A8-779E-96015E083B6F}"/>
              </a:ext>
            </a:extLst>
          </p:cNvPr>
          <p:cNvSpPr txBox="1"/>
          <p:nvPr/>
        </p:nvSpPr>
        <p:spPr>
          <a:xfrm>
            <a:off x="909836" y="512420"/>
            <a:ext cx="1000911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C793B6-C32E-9724-8ABB-3E62E70129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 bwMode="auto">
          <a:xfrm>
            <a:off x="1341884" y="1700808"/>
            <a:ext cx="9361040" cy="45007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2675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E8AE8-ECF9-7AA9-A4BB-6CD80A3F3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C2669A-C602-979B-4624-9D1B9F5E28B0}"/>
              </a:ext>
            </a:extLst>
          </p:cNvPr>
          <p:cNvSpPr txBox="1"/>
          <p:nvPr/>
        </p:nvSpPr>
        <p:spPr>
          <a:xfrm>
            <a:off x="981844" y="311493"/>
            <a:ext cx="1000911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D601C4-244B-20E7-B37F-11634535134A}"/>
              </a:ext>
            </a:extLst>
          </p:cNvPr>
          <p:cNvSpPr txBox="1"/>
          <p:nvPr/>
        </p:nvSpPr>
        <p:spPr>
          <a:xfrm>
            <a:off x="2128850" y="1707945"/>
            <a:ext cx="8640961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credentials (username, password) and biometric data.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 is hashed and anonymized before transmission to the cloud server.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anonymized data is then sent securely to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785370-E1E6-EB8F-600C-3B01728475B8}"/>
              </a:ext>
            </a:extLst>
          </p:cNvPr>
          <p:cNvSpPr txBox="1"/>
          <p:nvPr/>
        </p:nvSpPr>
        <p:spPr>
          <a:xfrm>
            <a:off x="2011837" y="1086663"/>
            <a:ext cx="887498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1.User Input Module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012C0E-DD07-B89F-3154-222CD28B7A21}"/>
              </a:ext>
            </a:extLst>
          </p:cNvPr>
          <p:cNvSpPr txBox="1"/>
          <p:nvPr/>
        </p:nvSpPr>
        <p:spPr>
          <a:xfrm>
            <a:off x="1989956" y="3269063"/>
            <a:ext cx="842493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Authentication Module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07125B-58F8-4DEE-EEE3-9EEC386BE89C}"/>
              </a:ext>
            </a:extLst>
          </p:cNvPr>
          <p:cNvSpPr txBox="1"/>
          <p:nvPr/>
        </p:nvSpPr>
        <p:spPr>
          <a:xfrm>
            <a:off x="2128850" y="3872870"/>
            <a:ext cx="8286042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hashed credentials from the User Input module.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Cross-verifies the user data with records in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Database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authentication is valid, generates a verification token.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Passes control to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Verification Module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secondary validation.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887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3254-8092-AF5A-25BF-FDD2A497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14A0BA-478B-D711-5B0E-59AFE802B2F5}"/>
              </a:ext>
            </a:extLst>
          </p:cNvPr>
          <p:cNvSpPr txBox="1"/>
          <p:nvPr/>
        </p:nvSpPr>
        <p:spPr>
          <a:xfrm>
            <a:off x="1089856" y="117942"/>
            <a:ext cx="1000911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A39FFA-C19B-68C8-D6E2-C85D20229713}"/>
              </a:ext>
            </a:extLst>
          </p:cNvPr>
          <p:cNvSpPr txBox="1"/>
          <p:nvPr/>
        </p:nvSpPr>
        <p:spPr>
          <a:xfrm>
            <a:off x="2135037" y="1249198"/>
            <a:ext cx="8640961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multi-factor authentication using the verification token.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user identity by validating biometric data and hashed credentials.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verified, grants temporary access rights to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Encryption/Decryption Module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1E74F-3B72-D430-9050-0231B1A1F932}"/>
              </a:ext>
            </a:extLst>
          </p:cNvPr>
          <p:cNvSpPr txBox="1"/>
          <p:nvPr/>
        </p:nvSpPr>
        <p:spPr>
          <a:xfrm>
            <a:off x="2011837" y="745893"/>
            <a:ext cx="887498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3.Authentication &amp; Verification Module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43EBFB-F38D-8C05-01C6-5F9431466A81}"/>
              </a:ext>
            </a:extLst>
          </p:cNvPr>
          <p:cNvSpPr txBox="1"/>
          <p:nvPr/>
        </p:nvSpPr>
        <p:spPr>
          <a:xfrm>
            <a:off x="2059403" y="3190473"/>
            <a:ext cx="842493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Encryption/Decryption &amp; Re-encryption Module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F67D6F-A4F8-BCF3-15C5-94CF024DF2B3}"/>
              </a:ext>
            </a:extLst>
          </p:cNvPr>
          <p:cNvSpPr txBox="1"/>
          <p:nvPr/>
        </p:nvSpPr>
        <p:spPr>
          <a:xfrm>
            <a:off x="2128850" y="3725145"/>
            <a:ext cx="8286042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Encrypts user data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Elliptic Curve Cryptography (ECC)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ChaCha20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re-encryption key for secure data transmission and sharing.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encrypted output to both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Upload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Sharing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encrypted hashes in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Database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future sessions.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382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883E5-35B1-C85A-0BB1-8A2B590E6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F252C9-D99A-B4FE-2E8D-0C73CB6D85D4}"/>
              </a:ext>
            </a:extLst>
          </p:cNvPr>
          <p:cNvSpPr txBox="1"/>
          <p:nvPr/>
        </p:nvSpPr>
        <p:spPr>
          <a:xfrm>
            <a:off x="1089856" y="117942"/>
            <a:ext cx="1000911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1A790-82D5-6DB5-6A06-36F229FC1B9F}"/>
              </a:ext>
            </a:extLst>
          </p:cNvPr>
          <p:cNvSpPr txBox="1"/>
          <p:nvPr/>
        </p:nvSpPr>
        <p:spPr>
          <a:xfrm>
            <a:off x="2223854" y="1496483"/>
            <a:ext cx="8640961" cy="1420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encrypted files + decryption info.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Uploads them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Storage (FS)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registration metadata back to cloud.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AAD089-8833-F0A2-A77B-3CC3B5259644}"/>
              </a:ext>
            </a:extLst>
          </p:cNvPr>
          <p:cNvSpPr txBox="1"/>
          <p:nvPr/>
        </p:nvSpPr>
        <p:spPr>
          <a:xfrm>
            <a:off x="1989829" y="886590"/>
            <a:ext cx="887498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File Upload Module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592142-DA93-DD3C-F944-C8DE302E3C60}"/>
              </a:ext>
            </a:extLst>
          </p:cNvPr>
          <p:cNvSpPr txBox="1"/>
          <p:nvPr/>
        </p:nvSpPr>
        <p:spPr>
          <a:xfrm>
            <a:off x="2015286" y="3573016"/>
            <a:ext cx="842493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6.File Storage (FS) &amp; Encrypted File Sharing (SH)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81C6A6-B435-5AD9-CFCF-1D8D83A58EAA}"/>
              </a:ext>
            </a:extLst>
          </p:cNvPr>
          <p:cNvSpPr txBox="1"/>
          <p:nvPr/>
        </p:nvSpPr>
        <p:spPr>
          <a:xfrm>
            <a:off x="2284301" y="4221088"/>
            <a:ext cx="8286042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uploaded encrypted files securely.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file is shared/modified, 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Re-encryption Module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refresh keys.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Shared/changed data passed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 (Encrypted File Change)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231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5559C-2282-FD54-64DF-AAE33844F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C7B784-0300-A600-59B6-675BF2FF1907}"/>
              </a:ext>
            </a:extLst>
          </p:cNvPr>
          <p:cNvSpPr txBox="1"/>
          <p:nvPr/>
        </p:nvSpPr>
        <p:spPr>
          <a:xfrm>
            <a:off x="1089856" y="117942"/>
            <a:ext cx="1000911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C7E06-2475-9C3E-3F11-49086947768F}"/>
              </a:ext>
            </a:extLst>
          </p:cNvPr>
          <p:cNvSpPr txBox="1"/>
          <p:nvPr/>
        </p:nvSpPr>
        <p:spPr>
          <a:xfrm>
            <a:off x="2024286" y="1559813"/>
            <a:ext cx="8640961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ChaCha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re-encryption before sharing files.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access tokens from authenticated users.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secure access or transfer of encrypted files between users.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sharing logs and encryption details forward.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D0F1F-CD43-E4CC-EC35-404463C3D1F2}"/>
              </a:ext>
            </a:extLst>
          </p:cNvPr>
          <p:cNvSpPr txBox="1"/>
          <p:nvPr/>
        </p:nvSpPr>
        <p:spPr>
          <a:xfrm>
            <a:off x="1790261" y="911741"/>
            <a:ext cx="887498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File Sharing Module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1E307-04FC-E574-82F3-CB5C3037CB35}"/>
              </a:ext>
            </a:extLst>
          </p:cNvPr>
          <p:cNvSpPr txBox="1"/>
          <p:nvPr/>
        </p:nvSpPr>
        <p:spPr>
          <a:xfrm>
            <a:off x="1881944" y="3717032"/>
            <a:ext cx="842493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8.Computation Graph Generation Module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3B771-44E2-B05E-60C6-829A41B47DAF}"/>
              </a:ext>
            </a:extLst>
          </p:cNvPr>
          <p:cNvSpPr txBox="1"/>
          <p:nvPr/>
        </p:nvSpPr>
        <p:spPr>
          <a:xfrm>
            <a:off x="2084733" y="4365104"/>
            <a:ext cx="8286042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data from ECC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ChaCha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comparative graphs (e.g., encryption speed, resource usage).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insight into performance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ChaCha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mechanisms.</a:t>
            </a:r>
          </a:p>
        </p:txBody>
      </p:sp>
    </p:spTree>
    <p:extLst>
      <p:ext uri="{BB962C8B-B14F-4D97-AF65-F5344CB8AC3E}">
        <p14:creationId xmlns:p14="http://schemas.microsoft.com/office/powerpoint/2010/main" val="192752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0577F-10A4-AFC3-FC2A-1A4F79D5F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8CD8BE0B-B5E5-0187-015F-7CD756F68D10}"/>
              </a:ext>
            </a:extLst>
          </p:cNvPr>
          <p:cNvSpPr txBox="1">
            <a:spLocks/>
          </p:cNvSpPr>
          <p:nvPr/>
        </p:nvSpPr>
        <p:spPr>
          <a:xfrm>
            <a:off x="1097159" y="260648"/>
            <a:ext cx="9793088" cy="977947"/>
          </a:xfrm>
          <a:prstGeom prst="rect">
            <a:avLst/>
          </a:prstGeom>
        </p:spPr>
        <p:txBody>
          <a:bodyPr vert="horz" wrap="square" lIns="0" tIns="419849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 algn="ctr">
              <a:lnSpc>
                <a:spcPct val="100000"/>
              </a:lnSpc>
              <a:spcBef>
                <a:spcPts val="125"/>
              </a:spcBef>
            </a:pPr>
            <a:r>
              <a:rPr lang="en-IN" sz="3500" b="1" spc="-10" dirty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rPr>
              <a:t>UML DIAGRAMS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C9FFEA-92BC-EA11-C7BB-74BB1E08AA7D}"/>
              </a:ext>
            </a:extLst>
          </p:cNvPr>
          <p:cNvSpPr txBox="1"/>
          <p:nvPr/>
        </p:nvSpPr>
        <p:spPr>
          <a:xfrm>
            <a:off x="1125860" y="1484784"/>
            <a:ext cx="6480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pic>
        <p:nvPicPr>
          <p:cNvPr id="16" name="Picture 15" descr="PlantUML diagram">
            <a:extLst>
              <a:ext uri="{FF2B5EF4-FFF2-40B4-BE49-F238E27FC236}">
                <a16:creationId xmlns:a16="http://schemas.microsoft.com/office/drawing/2014/main" id="{67C6997E-5559-D572-86B6-AD7E022ED0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924" y="2255004"/>
            <a:ext cx="8784976" cy="4032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56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3731C-9AC3-0409-E796-07FB187CD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4C81765B-B864-3DC3-6232-5AA6C3BE17AB}"/>
              </a:ext>
            </a:extLst>
          </p:cNvPr>
          <p:cNvSpPr txBox="1">
            <a:spLocks/>
          </p:cNvSpPr>
          <p:nvPr/>
        </p:nvSpPr>
        <p:spPr>
          <a:xfrm>
            <a:off x="1097159" y="260648"/>
            <a:ext cx="9793088" cy="977947"/>
          </a:xfrm>
          <a:prstGeom prst="rect">
            <a:avLst/>
          </a:prstGeom>
        </p:spPr>
        <p:txBody>
          <a:bodyPr vert="horz" wrap="square" lIns="0" tIns="419849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 algn="ctr">
              <a:lnSpc>
                <a:spcPct val="100000"/>
              </a:lnSpc>
              <a:spcBef>
                <a:spcPts val="125"/>
              </a:spcBef>
            </a:pPr>
            <a:r>
              <a:rPr lang="en-IN" sz="3500" b="1" spc="-10" dirty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rPr>
              <a:t>UML DIAGRAMS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335BBD-416C-B149-287E-DC261A10A6A2}"/>
              </a:ext>
            </a:extLst>
          </p:cNvPr>
          <p:cNvSpPr txBox="1"/>
          <p:nvPr/>
        </p:nvSpPr>
        <p:spPr>
          <a:xfrm>
            <a:off x="1125860" y="1484784"/>
            <a:ext cx="6480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pic>
        <p:nvPicPr>
          <p:cNvPr id="2" name="Picture 1" descr="PlantUML diagram">
            <a:extLst>
              <a:ext uri="{FF2B5EF4-FFF2-40B4-BE49-F238E27FC236}">
                <a16:creationId xmlns:a16="http://schemas.microsoft.com/office/drawing/2014/main" id="{EB0F505E-2E19-1F75-25B2-5724736B9F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916" y="2492896"/>
            <a:ext cx="8496944" cy="3672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1454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D3752-006F-065B-9BEB-DF4C81670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A41E191E-1ADD-3134-1CEB-94AF750DF628}"/>
              </a:ext>
            </a:extLst>
          </p:cNvPr>
          <p:cNvSpPr txBox="1">
            <a:spLocks/>
          </p:cNvSpPr>
          <p:nvPr/>
        </p:nvSpPr>
        <p:spPr>
          <a:xfrm>
            <a:off x="1097159" y="260648"/>
            <a:ext cx="9793088" cy="977947"/>
          </a:xfrm>
          <a:prstGeom prst="rect">
            <a:avLst/>
          </a:prstGeom>
        </p:spPr>
        <p:txBody>
          <a:bodyPr vert="horz" wrap="square" lIns="0" tIns="419849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 algn="ctr">
              <a:lnSpc>
                <a:spcPct val="100000"/>
              </a:lnSpc>
              <a:spcBef>
                <a:spcPts val="125"/>
              </a:spcBef>
            </a:pPr>
            <a:r>
              <a:rPr lang="en-IN" sz="3500" b="1" spc="-10" dirty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rPr>
              <a:t>UML DIAGRAMS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4EAC3E-ED61-1F42-4AB1-FC728635432A}"/>
              </a:ext>
            </a:extLst>
          </p:cNvPr>
          <p:cNvSpPr txBox="1"/>
          <p:nvPr/>
        </p:nvSpPr>
        <p:spPr>
          <a:xfrm>
            <a:off x="1125860" y="1484784"/>
            <a:ext cx="6480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</p:txBody>
      </p:sp>
      <p:pic>
        <p:nvPicPr>
          <p:cNvPr id="3" name="Picture 2" descr="PlantUML diagram">
            <a:extLst>
              <a:ext uri="{FF2B5EF4-FFF2-40B4-BE49-F238E27FC236}">
                <a16:creationId xmlns:a16="http://schemas.microsoft.com/office/drawing/2014/main" id="{C793AA6C-A11D-BAA3-73AF-A5B03290EB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2420888"/>
            <a:ext cx="8856984" cy="3600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645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07298-9796-565E-5F1A-06E2A8278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5E9BE8CF-88B8-CB08-13D2-E20C0A75D03E}"/>
              </a:ext>
            </a:extLst>
          </p:cNvPr>
          <p:cNvSpPr txBox="1">
            <a:spLocks/>
          </p:cNvSpPr>
          <p:nvPr/>
        </p:nvSpPr>
        <p:spPr>
          <a:xfrm>
            <a:off x="1097159" y="260648"/>
            <a:ext cx="9793088" cy="977947"/>
          </a:xfrm>
          <a:prstGeom prst="rect">
            <a:avLst/>
          </a:prstGeom>
        </p:spPr>
        <p:txBody>
          <a:bodyPr vert="horz" wrap="square" lIns="0" tIns="419849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 algn="ctr">
              <a:lnSpc>
                <a:spcPct val="100000"/>
              </a:lnSpc>
              <a:spcBef>
                <a:spcPts val="125"/>
              </a:spcBef>
            </a:pPr>
            <a:r>
              <a:rPr lang="en-IN" sz="3500" b="1" spc="-10" dirty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rPr>
              <a:t>UML DIAGRAMS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1C1604-A4C8-B91E-0C57-23E052DDE401}"/>
              </a:ext>
            </a:extLst>
          </p:cNvPr>
          <p:cNvSpPr txBox="1"/>
          <p:nvPr/>
        </p:nvSpPr>
        <p:spPr>
          <a:xfrm>
            <a:off x="1097159" y="1316104"/>
            <a:ext cx="6480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</a:p>
        </p:txBody>
      </p:sp>
      <p:pic>
        <p:nvPicPr>
          <p:cNvPr id="3" name="Picture 2" descr="PlantUML diagram">
            <a:extLst>
              <a:ext uri="{FF2B5EF4-FFF2-40B4-BE49-F238E27FC236}">
                <a16:creationId xmlns:a16="http://schemas.microsoft.com/office/drawing/2014/main" id="{24B5496B-423E-F271-CBE7-2C99454C4B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868" y="2060847"/>
            <a:ext cx="9505056" cy="43924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009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9ED3A-D898-D9D8-2B22-C9E2A37B4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F47936F-6D9B-C067-968D-9FB09921A7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2261" y="260648"/>
            <a:ext cx="10452414" cy="56667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100"/>
              </a:spcBef>
            </a:pPr>
            <a:r>
              <a:rPr lang="en-IN" sz="3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  <a:endParaRPr sz="35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4126C3-CD6E-0B32-7238-6A111C1A8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980" y="1196752"/>
            <a:ext cx="8640960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04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7F174-3E66-5BFB-8DAF-3F3640E02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C3CDF98-0B3F-C8EA-8774-8A9DAF475F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1884" y="476672"/>
            <a:ext cx="10452414" cy="56667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100"/>
              </a:spcBef>
            </a:pPr>
            <a:r>
              <a:rPr lang="en-IN" sz="3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  <a:endParaRPr sz="35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582C2A-757B-214E-2628-94A219C60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975" y="1628800"/>
            <a:ext cx="8856985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2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8FC54-1D14-3D5C-1934-F61431825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0453B72-7B64-36BE-46CA-2E711FE4DF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2261" y="260648"/>
            <a:ext cx="10452414" cy="56667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100"/>
              </a:spcBef>
            </a:pPr>
            <a:r>
              <a:rPr lang="en-IN" sz="3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sz="35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4B285-0221-D061-4226-3853FF60714A}"/>
              </a:ext>
            </a:extLst>
          </p:cNvPr>
          <p:cNvSpPr txBox="1"/>
          <p:nvPr/>
        </p:nvSpPr>
        <p:spPr>
          <a:xfrm>
            <a:off x="1511527" y="957671"/>
            <a:ext cx="10173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EB3F65-CA4C-7B37-9CE7-216B9F5409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10309" t="35028" r="13787" b="21550"/>
          <a:stretch>
            <a:fillRect/>
          </a:stretch>
        </p:blipFill>
        <p:spPr bwMode="auto">
          <a:xfrm>
            <a:off x="1989956" y="1734885"/>
            <a:ext cx="8928992" cy="41995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1665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36B57-0774-7BAD-0174-F5E7F326F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5F350F-ECFE-34A7-2EF7-6310D362F6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2261" y="260648"/>
            <a:ext cx="10452414" cy="56667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100"/>
              </a:spcBef>
            </a:pPr>
            <a:r>
              <a:rPr lang="en-IN" sz="3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sz="35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F1302A-2676-1ECD-FD3D-10CF103DF316}"/>
              </a:ext>
            </a:extLst>
          </p:cNvPr>
          <p:cNvSpPr txBox="1"/>
          <p:nvPr/>
        </p:nvSpPr>
        <p:spPr>
          <a:xfrm>
            <a:off x="1650793" y="1124744"/>
            <a:ext cx="10173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User Signup Screen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4D3D26-D1A7-4E6A-6789-E99E578487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10569" t="8475" b="5085"/>
          <a:stretch>
            <a:fillRect/>
          </a:stretch>
        </p:blipFill>
        <p:spPr bwMode="auto">
          <a:xfrm>
            <a:off x="2133972" y="2227920"/>
            <a:ext cx="8856984" cy="38653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6078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EFDCD-98EA-D712-50A0-6342F6B1D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D8CA89-0F42-B2F8-52C4-DCDEF1D418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2261" y="260648"/>
            <a:ext cx="10452414" cy="56667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100"/>
              </a:spcBef>
            </a:pPr>
            <a:r>
              <a:rPr lang="en-IN" sz="3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sz="35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82A9B-2009-F0D2-151F-4004EE22A9CA}"/>
              </a:ext>
            </a:extLst>
          </p:cNvPr>
          <p:cNvSpPr txBox="1"/>
          <p:nvPr/>
        </p:nvSpPr>
        <p:spPr>
          <a:xfrm>
            <a:off x="1650793" y="1124744"/>
            <a:ext cx="10173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6C31BF-51EF-B915-F03B-F8E71957A28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11200" t="6959" r="800" b="7546"/>
          <a:stretch>
            <a:fillRect/>
          </a:stretch>
        </p:blipFill>
        <p:spPr bwMode="auto">
          <a:xfrm>
            <a:off x="2277988" y="1945386"/>
            <a:ext cx="8640960" cy="408595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6845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ABDB3-4417-4206-2247-A99498E05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677F747-6905-8814-F5F8-A7D3C67400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2261" y="260648"/>
            <a:ext cx="10452414" cy="56667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100"/>
              </a:spcBef>
            </a:pPr>
            <a:r>
              <a:rPr lang="en-IN" sz="3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sz="35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3BAA1-EECA-DC41-B322-D977506B4AD3}"/>
              </a:ext>
            </a:extLst>
          </p:cNvPr>
          <p:cNvSpPr txBox="1"/>
          <p:nvPr/>
        </p:nvSpPr>
        <p:spPr>
          <a:xfrm>
            <a:off x="1650793" y="1124744"/>
            <a:ext cx="10173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Upload Screen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92AFED-1100-968E-8041-E783320B515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11650" b="6662"/>
          <a:stretch>
            <a:fillRect/>
          </a:stretch>
        </p:blipFill>
        <p:spPr bwMode="auto">
          <a:xfrm>
            <a:off x="2133972" y="2132856"/>
            <a:ext cx="8856984" cy="374441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77775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5A5A7-87E5-4AD6-B699-891F045E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02B2A5-240A-1C62-807E-13952A16A1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2261" y="260648"/>
            <a:ext cx="10452414" cy="56667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100"/>
              </a:spcBef>
            </a:pPr>
            <a:r>
              <a:rPr lang="en-IN" sz="3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sz="35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A9EB27-147A-45EF-D7D8-34C0D484ACC7}"/>
              </a:ext>
            </a:extLst>
          </p:cNvPr>
          <p:cNvSpPr txBox="1"/>
          <p:nvPr/>
        </p:nvSpPr>
        <p:spPr>
          <a:xfrm>
            <a:off x="1650793" y="1124744"/>
            <a:ext cx="10173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Uploaded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504D20-4551-88C4-A346-AA6DABCB63B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12114" t="25937" r="15821" b="5258"/>
          <a:stretch>
            <a:fillRect/>
          </a:stretch>
        </p:blipFill>
        <p:spPr bwMode="auto">
          <a:xfrm>
            <a:off x="1989956" y="1945386"/>
            <a:ext cx="9073007" cy="41479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5384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366A3-5B5F-E0E2-F94D-3D3375A16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2C358F-CB8E-EDFB-EE39-76A49B255F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2261" y="260648"/>
            <a:ext cx="10452414" cy="56667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100"/>
              </a:spcBef>
            </a:pPr>
            <a:r>
              <a:rPr lang="en-IN" sz="3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sz="35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983317-532E-FE64-D67C-3C52F10F23DE}"/>
              </a:ext>
            </a:extLst>
          </p:cNvPr>
          <p:cNvSpPr txBox="1"/>
          <p:nvPr/>
        </p:nvSpPr>
        <p:spPr>
          <a:xfrm>
            <a:off x="1650793" y="1124744"/>
            <a:ext cx="10173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File Screen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D45853-CED4-8AC6-F416-17BA998832C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11477" t="37101" r="15677" b="5059"/>
          <a:stretch>
            <a:fillRect/>
          </a:stretch>
        </p:blipFill>
        <p:spPr bwMode="auto">
          <a:xfrm>
            <a:off x="2133972" y="1945386"/>
            <a:ext cx="9073008" cy="429192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4131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3355B-E47B-92D0-7B0C-17C05C15C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9E13FE2-958A-417D-94BC-5657A7BE09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2261" y="260648"/>
            <a:ext cx="10452414" cy="56667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100"/>
              </a:spcBef>
            </a:pPr>
            <a:r>
              <a:rPr lang="en-IN" sz="3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sz="35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39596D-0BD2-177E-64B3-53DC4219CC60}"/>
              </a:ext>
            </a:extLst>
          </p:cNvPr>
          <p:cNvSpPr txBox="1"/>
          <p:nvPr/>
        </p:nvSpPr>
        <p:spPr>
          <a:xfrm>
            <a:off x="1650793" y="1124744"/>
            <a:ext cx="10173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Change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1F61F2-9625-714C-2487-E65C9C6F16E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11162" t="14057" r="14979" b="5528"/>
          <a:stretch>
            <a:fillRect/>
          </a:stretch>
        </p:blipFill>
        <p:spPr bwMode="auto">
          <a:xfrm>
            <a:off x="2277988" y="2060847"/>
            <a:ext cx="8640959" cy="40466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5202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9D4F8-4606-8464-CB5A-CFD595676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33D760-8537-1CFC-5276-85AC15D07A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2261" y="260648"/>
            <a:ext cx="10452414" cy="56667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100"/>
              </a:spcBef>
            </a:pPr>
            <a:r>
              <a:rPr lang="en-IN" sz="3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sz="35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6DB912-4D86-49D3-4F6E-2170F8644E8F}"/>
              </a:ext>
            </a:extLst>
          </p:cNvPr>
          <p:cNvSpPr txBox="1"/>
          <p:nvPr/>
        </p:nvSpPr>
        <p:spPr>
          <a:xfrm>
            <a:off x="1650793" y="1124744"/>
            <a:ext cx="10173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Password Changing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55561-336A-B509-876D-29C799A956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11522" t="7513" r="15304" b="14193"/>
          <a:stretch>
            <a:fillRect/>
          </a:stretch>
        </p:blipFill>
        <p:spPr bwMode="auto">
          <a:xfrm>
            <a:off x="1989956" y="1945386"/>
            <a:ext cx="9289032" cy="41764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93431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7F1DF-4686-DA2C-F516-0E66CA420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3E5A464-8177-0E44-A00E-84DFC1E353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2261" y="260648"/>
            <a:ext cx="10452414" cy="56667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100"/>
              </a:spcBef>
            </a:pPr>
            <a:r>
              <a:rPr lang="en-IN" sz="3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sz="35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77427-43AE-6B7C-2E5D-2B35E12DE84D}"/>
              </a:ext>
            </a:extLst>
          </p:cNvPr>
          <p:cNvSpPr txBox="1"/>
          <p:nvPr/>
        </p:nvSpPr>
        <p:spPr>
          <a:xfrm>
            <a:off x="1650793" y="1124744"/>
            <a:ext cx="10173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54C52-A3CF-CF7D-294F-7B2C043D0C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9909" t="8709" r="14126" b="7167"/>
          <a:stretch>
            <a:fillRect/>
          </a:stretch>
        </p:blipFill>
        <p:spPr bwMode="auto">
          <a:xfrm>
            <a:off x="2309242" y="2060848"/>
            <a:ext cx="8856984" cy="42199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1705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417BE-C2F2-E9FF-79DC-BE59C17C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C990BBB-F507-6358-6612-E50AD23CE6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2261" y="260648"/>
            <a:ext cx="10452414" cy="56667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100"/>
              </a:spcBef>
            </a:pPr>
            <a:r>
              <a:rPr lang="en-IN" sz="3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</a:t>
            </a:r>
            <a:endParaRPr sz="35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1BCBB0-F2C6-D936-2558-778BDBB8F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972" y="2032508"/>
            <a:ext cx="943304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cloud framework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multi-factor authentication and access control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encryption (ECC + ChaCha20)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achieves strong security with better performance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 based anonymity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privacy and prevents unauthorized access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BD3B3B-4B2C-8FBF-3589-294C93517BC7}"/>
              </a:ext>
            </a:extLst>
          </p:cNvPr>
          <p:cNvSpPr txBox="1"/>
          <p:nvPr/>
        </p:nvSpPr>
        <p:spPr>
          <a:xfrm>
            <a:off x="1547531" y="1268760"/>
            <a:ext cx="10173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0D8663-49BA-7E14-C71E-2F9068B1420F}"/>
              </a:ext>
            </a:extLst>
          </p:cNvPr>
          <p:cNvSpPr txBox="1"/>
          <p:nvPr/>
        </p:nvSpPr>
        <p:spPr>
          <a:xfrm>
            <a:off x="1701924" y="3933056"/>
            <a:ext cx="9433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48F3B6-115B-DAA9-DBB6-ACECD55FC4AE}"/>
              </a:ext>
            </a:extLst>
          </p:cNvPr>
          <p:cNvSpPr txBox="1"/>
          <p:nvPr/>
        </p:nvSpPr>
        <p:spPr>
          <a:xfrm>
            <a:off x="2133972" y="4760294"/>
            <a:ext cx="92170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tamper-proof authentication.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intrusion detection.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05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461FE-34BD-9903-FDAB-27D9F9F7B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F1DF321-C18E-4DB7-F326-6A9D8538F9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9876" y="548680"/>
            <a:ext cx="10452414" cy="56667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100"/>
              </a:spcBef>
            </a:pPr>
            <a:r>
              <a:rPr lang="en-IN" sz="3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5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DFFD76-7077-CA71-93FC-8B24B648F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1964" y="1412776"/>
            <a:ext cx="9217024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Mostafa, A.M.; Ezz, M.;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Elbashir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M.K.;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Alruily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M.; Hamouda, E.;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Alsarhani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M.; Said, W. Strengthening Cloud Security: An Innovative Multi-Factor Multi-Layer Authentication Framework for Cloud User Authentication.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Appl. Sci.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10871. </a:t>
            </a: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https://doi.org/10.3390/app131910871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Alatawi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M.N. Blockchain-Driven Smart Contracts for Advanced Authorization and Authentication in Cloud Security.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3104. </a:t>
            </a: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https://doi.org/10.3390/electronics14153104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Tanveer, M.; Badshah, A.; Khan, A.;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Alasmary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H.; Chaudhry, S. CMAF-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IIoT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Chaotic map-based authentication framework for industrial internet of things.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Things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100902.</a:t>
            </a:r>
          </a:p>
        </p:txBody>
      </p:sp>
    </p:spTree>
    <p:extLst>
      <p:ext uri="{BB962C8B-B14F-4D97-AF65-F5344CB8AC3E}">
        <p14:creationId xmlns:p14="http://schemas.microsoft.com/office/powerpoint/2010/main" val="4610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3C554-2C32-D961-4FEA-8DEA009C8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7CCF37-837D-3E78-F1D8-305746CB5D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9876" y="692696"/>
            <a:ext cx="10452414" cy="566674"/>
          </a:xfrm>
          <a:prstGeom prst="rect">
            <a:avLst/>
          </a:prstGeom>
        </p:spPr>
        <p:txBody>
          <a:bodyPr vert="horz" wrap="square" lIns="0" tIns="12697" rIns="0" bIns="0" rtlCol="0" anchor="b">
            <a:spAutoFit/>
          </a:bodyPr>
          <a:lstStyle/>
          <a:p>
            <a:pPr marL="12696" algn="ctr">
              <a:lnSpc>
                <a:spcPct val="100000"/>
              </a:lnSpc>
              <a:spcBef>
                <a:spcPts val="100"/>
              </a:spcBef>
            </a:pPr>
            <a:r>
              <a:rPr lang="en-IN" sz="3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sz="35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B75397-070C-257A-43C6-7F55C0DDED96}"/>
              </a:ext>
            </a:extLst>
          </p:cNvPr>
          <p:cNvSpPr txBox="1"/>
          <p:nvPr/>
        </p:nvSpPr>
        <p:spPr>
          <a:xfrm>
            <a:off x="2031587" y="1988840"/>
            <a:ext cx="89289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hlinkClick r:id="rId2"/>
              </a:rPr>
              <a:t>https://github.com/Pravallikapalvai/privacy-enhanced-anonymous-cloud-authentication-framework-with-multi-factor-protection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615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912FC5-ED7B-C467-E3DA-F7F9E774C51D}"/>
              </a:ext>
            </a:extLst>
          </p:cNvPr>
          <p:cNvSpPr txBox="1"/>
          <p:nvPr/>
        </p:nvSpPr>
        <p:spPr>
          <a:xfrm>
            <a:off x="3358108" y="2276872"/>
            <a:ext cx="7200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latin typeface="Imprint MT Shadow" panose="040206050603030302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42711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</Template>
  <TotalTime>685</TotalTime>
  <Words>1275</Words>
  <Application>Microsoft Office PowerPoint</Application>
  <PresentationFormat>Custom</PresentationFormat>
  <Paragraphs>163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Arial MT</vt:lpstr>
      <vt:lpstr>Euphemia</vt:lpstr>
      <vt:lpstr>Imprint MT Shadow</vt:lpstr>
      <vt:lpstr>Times New Roman</vt:lpstr>
      <vt:lpstr>Wingdings</vt:lpstr>
      <vt:lpstr>Math 16x9</vt:lpstr>
      <vt:lpstr>PowerPoint Presentation</vt:lpstr>
      <vt:lpstr>PowerPoint Presentation</vt:lpstr>
      <vt:lpstr>INTRODUCTION AND OVERVIEW OF THE PROJECT  </vt:lpstr>
      <vt:lpstr>EXISTING SYSTEM</vt:lpstr>
      <vt:lpstr>DISADVANTAGES OF EXISTING SYSTEM</vt:lpstr>
      <vt:lpstr>PowerPoint Presentation</vt:lpstr>
      <vt:lpstr>PowerPoint Presentation</vt:lpstr>
      <vt:lpstr>HARDWARE &amp; SOFTWARE REQUIREMENTS</vt:lpstr>
      <vt:lpstr>NOVELTY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SOURCE CODE</vt:lpstr>
      <vt:lpstr>SOURCE CODE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CONCLUSION &amp; FUTURE ENHANCEMENT</vt:lpstr>
      <vt:lpstr>REFERENCES</vt:lpstr>
      <vt:lpstr>GITHUB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palvai pravalika</dc:creator>
  <cp:lastModifiedBy>palvai pravalika</cp:lastModifiedBy>
  <cp:revision>13</cp:revision>
  <dcterms:created xsi:type="dcterms:W3CDTF">2025-10-13T15:42:00Z</dcterms:created>
  <dcterms:modified xsi:type="dcterms:W3CDTF">2026-03-30T11:31:50Z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